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3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00000" y="1600000"/>
            <a:ext cx="62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AABBCC"/>
                </a:solidFill>
              </a:defRPr>
            </a:pPr>
            <a:r>
              <a:t>数据结构课程设计之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0" y="2200000"/>
            <a:ext cx="62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校园导航系统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0" y="4200000"/>
            <a:ext cx="4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CCDD"/>
                </a:solidFill>
              </a:defRPr>
            </a:pPr>
            <a:r>
              <a:t>姓名：王宏宇    班级：软件工程4班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00000" y="4700000"/>
            <a:ext cx="4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AABB"/>
                </a:solidFill>
              </a:defRPr>
            </a:pPr>
            <a:r>
              <a:t>日期：2026年6月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0000"/>
          </a:xfrm>
          <a:prstGeom prst="rect">
            <a:avLst/>
          </a:prstGeom>
          <a:solidFill>
            <a:srgbClr val="203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40000"/>
            <a:ext cx="80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1. 设计要求及问题描述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200000"/>
            <a:ext cx="8000000" cy="2538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03A43"/>
                </a:solidFill>
              </a:defRPr>
            </a:pPr>
            <a:r>
              <a:t>■ 设计校园平面图，包含至少10个场所</a:t>
            </a:r>
          </a:p>
          <a:p>
            <a:pPr>
              <a:spcAft>
                <a:spcPts val="800"/>
              </a:spcAft>
              <a:defRPr sz="1700">
                <a:solidFill>
                  <a:srgbClr val="203A43"/>
                </a:solidFill>
              </a:defRPr>
            </a:pPr>
            <a:r>
              <a:t>■ 每两个场所间可以有不同路径（步行/车行），路长不同</a:t>
            </a:r>
          </a:p>
          <a:p>
            <a:pPr>
              <a:spcAft>
                <a:spcPts val="800"/>
              </a:spcAft>
              <a:defRPr sz="1700">
                <a:solidFill>
                  <a:srgbClr val="203A43"/>
                </a:solidFill>
              </a:defRPr>
            </a:pPr>
            <a:r>
              <a:t>■ 找出从任意场所到达另一场所的最佳（最短）路径</a:t>
            </a:r>
          </a:p>
          <a:p>
            <a:pPr>
              <a:spcAft>
                <a:spcPts val="800"/>
              </a:spcAft>
              <a:defRPr sz="1700">
                <a:solidFill>
                  <a:srgbClr val="203A43"/>
                </a:solidFill>
              </a:defRPr>
            </a:pPr>
            <a:r>
              <a:t>■ 支持双模式出行：步行模式与车行模式</a:t>
            </a:r>
          </a:p>
          <a:p>
            <a:pPr>
              <a:spcAft>
                <a:spcPts val="800"/>
              </a:spcAft>
              <a:defRPr sz="1700">
                <a:solidFill>
                  <a:srgbClr val="203A4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203A43"/>
                </a:solidFill>
              </a:defRPr>
            </a:pPr>
            <a:r>
              <a:t>■ 本课题以海南大学为原型，覆盖海甸、儋州、观澜湖三个校区</a:t>
            </a:r>
          </a:p>
          <a:p>
            <a:pPr>
              <a:spcAft>
                <a:spcPts val="800"/>
              </a:spcAft>
              <a:defRPr sz="1700">
                <a:solidFill>
                  <a:srgbClr val="203A43"/>
                </a:solidFill>
              </a:defRPr>
            </a:pPr>
            <a:r>
              <a:t>■ 共设计 20 个景点，50 条道路，支持步行/车行双图架构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0000"/>
          </a:xfrm>
          <a:prstGeom prst="rect">
            <a:avLst/>
          </a:prstGeom>
          <a:solidFill>
            <a:srgbClr val="203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40000"/>
            <a:ext cx="80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2. 系统架构与内容范围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1100000"/>
            <a:ext cx="4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3E8"/>
                </a:solidFill>
              </a:defRPr>
            </a:pPr>
            <a:r>
              <a:t>四层架构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0000" y="1500000"/>
            <a:ext cx="40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3A43"/>
                </a:solidFill>
              </a:defRPr>
            </a:pPr>
            <a:r>
              <a:t>▶ 数据层 (data/)</a:t>
            </a:r>
            <a:br/>
            <a:r>
              <a:t>   scene.txt + road.txt + 地图图片</a:t>
            </a:r>
          </a:p>
          <a:p>
            <a:pPr>
              <a:spcAft>
                <a:spcPts val="800"/>
              </a:spcAft>
              <a:defRPr sz="1400">
                <a:solidFill>
                  <a:srgbClr val="203A43"/>
                </a:solidFill>
              </a:defRPr>
            </a:pPr>
            <a:r>
              <a:t>▶ 算法层 (algorithm/)</a:t>
            </a:r>
            <a:br/>
            <a:r>
              <a:t>   Graph.h + Graph.cpp + curd/</a:t>
            </a:r>
          </a:p>
          <a:p>
            <a:pPr>
              <a:spcAft>
                <a:spcPts val="800"/>
              </a:spcAft>
              <a:defRPr sz="1400">
                <a:solidFill>
                  <a:srgbClr val="203A43"/>
                </a:solidFill>
              </a:defRPr>
            </a:pPr>
            <a:r>
              <a:t>▶ 可视化层 (ui/)</a:t>
            </a:r>
            <a:br/>
            <a:r>
              <a:t>   selection.html + 3个校区地图页</a:t>
            </a:r>
          </a:p>
          <a:p>
            <a:pPr>
              <a:spcAft>
                <a:spcPts val="800"/>
              </a:spcAft>
              <a:defRPr sz="1400">
                <a:solidFill>
                  <a:srgbClr val="203A43"/>
                </a:solidFill>
              </a:defRPr>
            </a:pPr>
            <a:r>
              <a:t>▶ 入口层 (main.cpp)</a:t>
            </a:r>
            <a:br/>
            <a:r>
              <a:t>   控制台菜单交互 + 数据加载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000" y="1100000"/>
            <a:ext cx="4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3E8"/>
                </a:solidFill>
              </a:defRPr>
            </a:pPr>
            <a:r>
              <a:t>涉及的数据结构与算法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000" y="1500000"/>
            <a:ext cx="4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3A43"/>
                </a:solidFill>
              </a:defRPr>
            </a:pPr>
            <a:r>
              <a:t>• 图（邻接矩阵）— 景点路网建模</a:t>
            </a:r>
          </a:p>
          <a:p>
            <a:pPr>
              <a:spcAft>
                <a:spcPts val="800"/>
              </a:spcAft>
              <a:defRPr sz="1400">
                <a:solidFill>
                  <a:srgbClr val="203A43"/>
                </a:solidFill>
              </a:defRPr>
            </a:pPr>
            <a:r>
              <a:t>• Dijkstra 算法 — 最短路径</a:t>
            </a:r>
          </a:p>
          <a:p>
            <a:pPr>
              <a:spcAft>
                <a:spcPts val="800"/>
              </a:spcAft>
              <a:defRPr sz="1400">
                <a:solidFill>
                  <a:srgbClr val="203A43"/>
                </a:solidFill>
              </a:defRPr>
            </a:pPr>
            <a:r>
              <a:t>• DFS + 回溯 — 所有路径枚举</a:t>
            </a:r>
          </a:p>
          <a:p>
            <a:pPr>
              <a:spcAft>
                <a:spcPts val="800"/>
              </a:spcAft>
              <a:defRPr sz="1400">
                <a:solidFill>
                  <a:srgbClr val="203A43"/>
                </a:solidFill>
              </a:defRPr>
            </a:pPr>
            <a:r>
              <a:t>• DFS + 哈希表 — 必经节点约束路径</a:t>
            </a:r>
          </a:p>
          <a:p>
            <a:pPr>
              <a:spcAft>
                <a:spcPts val="800"/>
              </a:spcAft>
              <a:defRPr sz="1400">
                <a:solidFill>
                  <a:srgbClr val="203A43"/>
                </a:solidFill>
              </a:defRPr>
            </a:pPr>
            <a:r>
              <a:t>• 双图架构 — 步行/车行分离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0000"/>
          </a:xfrm>
          <a:prstGeom prst="rect">
            <a:avLst/>
          </a:prstGeom>
          <a:solidFill>
            <a:srgbClr val="203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40000"/>
            <a:ext cx="80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3. 核心算法思想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1100000"/>
            <a:ext cx="4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</a:defRPr>
            </a:pPr>
            <a:r>
              <a:t>Dijkstra 最短路径 — 贪心策略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0000" y="1550000"/>
            <a:ext cx="4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3A43"/>
                </a:solidFill>
              </a:defRPr>
            </a:pPr>
            <a:r>
              <a:t>① 初始化：dist[i]=adj[start][i]，其余=∞</a:t>
            </a:r>
          </a:p>
          <a:p>
            <a:pPr>
              <a:spcAft>
                <a:spcPts val="800"/>
              </a:spcAft>
              <a:defRPr sz="1400">
                <a:solidFill>
                  <a:srgbClr val="203A43"/>
                </a:solidFill>
              </a:defRPr>
            </a:pPr>
            <a:r>
              <a:t>② 从未访问顶点中选距离最小者 u</a:t>
            </a:r>
          </a:p>
          <a:p>
            <a:pPr>
              <a:spcAft>
                <a:spcPts val="800"/>
              </a:spcAft>
              <a:defRPr sz="1400">
                <a:solidFill>
                  <a:srgbClr val="203A43"/>
                </a:solidFill>
              </a:defRPr>
            </a:pPr>
            <a:r>
              <a:t>③ 用 u 更新邻接顶点 v 的距离</a:t>
            </a:r>
          </a:p>
          <a:p>
            <a:pPr>
              <a:spcAft>
                <a:spcPts val="800"/>
              </a:spcAft>
              <a:defRPr sz="1400">
                <a:solidFill>
                  <a:srgbClr val="203A43"/>
                </a:solidFill>
              </a:defRPr>
            </a:pPr>
            <a:r>
              <a:t>④ 重复 ②③ 直到访问所有顶点</a:t>
            </a:r>
          </a:p>
          <a:p>
            <a:pPr>
              <a:spcAft>
                <a:spcPts val="800"/>
              </a:spcAft>
              <a:defRPr sz="1400">
                <a:solidFill>
                  <a:srgbClr val="203A43"/>
                </a:solidFill>
              </a:defRPr>
            </a:pPr>
            <a:r>
              <a:t>⑤ 从终点回溯得到最短路径</a:t>
            </a:r>
          </a:p>
          <a:p>
            <a:pPr>
              <a:spcAft>
                <a:spcPts val="800"/>
              </a:spcAft>
              <a:defRPr sz="1400">
                <a:solidFill>
                  <a:srgbClr val="203A4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03A43"/>
                </a:solidFill>
              </a:defRPr>
            </a:pPr>
            <a:r>
              <a:t>时间：O(n²) | 空间：O(n)</a:t>
            </a:r>
          </a:p>
          <a:p>
            <a:pPr>
              <a:spcAft>
                <a:spcPts val="800"/>
              </a:spcAft>
              <a:defRPr sz="1400">
                <a:solidFill>
                  <a:srgbClr val="203A43"/>
                </a:solidFill>
              </a:defRPr>
            </a:pPr>
            <a:r>
              <a:t>优化点：INT_MAX 溢出保护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000" y="1100000"/>
            <a:ext cx="4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7D1A"/>
                </a:solidFill>
              </a:defRPr>
            </a:pPr>
            <a:r>
              <a:t>DFS 全路径枚举 — 递归回溯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000" y="1550000"/>
            <a:ext cx="4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3A43"/>
                </a:solidFill>
              </a:defRPr>
            </a:pPr>
            <a:r>
              <a:t>① 标记当前顶点为已访问</a:t>
            </a:r>
          </a:p>
          <a:p>
            <a:pPr>
              <a:spcAft>
                <a:spcPts val="800"/>
              </a:spcAft>
              <a:defRPr sz="1400">
                <a:solidFill>
                  <a:srgbClr val="203A43"/>
                </a:solidFill>
              </a:defRPr>
            </a:pPr>
            <a:r>
              <a:t>② 加入路径队列</a:t>
            </a:r>
          </a:p>
          <a:p>
            <a:pPr>
              <a:spcAft>
                <a:spcPts val="800"/>
              </a:spcAft>
              <a:defRPr sz="1400">
                <a:solidFill>
                  <a:srgbClr val="203A43"/>
                </a:solidFill>
              </a:defRPr>
            </a:pPr>
            <a:r>
              <a:t>③ 若到达终点 → 输出路径</a:t>
            </a:r>
          </a:p>
          <a:p>
            <a:pPr>
              <a:spcAft>
                <a:spcPts val="800"/>
              </a:spcAft>
              <a:defRPr sz="1400">
                <a:solidFill>
                  <a:srgbClr val="203A43"/>
                </a:solidFill>
              </a:defRPr>
            </a:pPr>
            <a:r>
              <a:t>④ 否则递归遍历邻接顶点</a:t>
            </a:r>
          </a:p>
          <a:p>
            <a:pPr>
              <a:spcAft>
                <a:spcPts val="800"/>
              </a:spcAft>
              <a:defRPr sz="1400">
                <a:solidFill>
                  <a:srgbClr val="203A43"/>
                </a:solidFill>
              </a:defRPr>
            </a:pPr>
            <a:r>
              <a:t>⑤ 回溯：出队 + 取消标记</a:t>
            </a:r>
          </a:p>
          <a:p>
            <a:pPr>
              <a:spcAft>
                <a:spcPts val="800"/>
              </a:spcAft>
              <a:defRPr sz="1400">
                <a:solidFill>
                  <a:srgbClr val="203A4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03A43"/>
                </a:solidFill>
              </a:defRPr>
            </a:pPr>
            <a:r>
              <a:t>必经节点约束：哈希表计数法</a:t>
            </a:r>
          </a:p>
          <a:p>
            <a:pPr>
              <a:spcAft>
                <a:spcPts val="800"/>
              </a:spcAft>
              <a:defRPr sz="1400">
                <a:solidFill>
                  <a:srgbClr val="203A43"/>
                </a:solidFill>
              </a:defRPr>
            </a:pPr>
            <a:r>
              <a:t>路径上经过的节点 ID 在哈希表中自减，</a:t>
            </a:r>
          </a:p>
          <a:p>
            <a:pPr>
              <a:spcAft>
                <a:spcPts val="800"/>
              </a:spcAft>
              <a:defRPr sz="1400">
                <a:solidFill>
                  <a:srgbClr val="203A43"/>
                </a:solidFill>
              </a:defRPr>
            </a:pPr>
            <a:r>
              <a:t>全部 ≤0 即满足条件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0000"/>
          </a:xfrm>
          <a:prstGeom prst="rect">
            <a:avLst/>
          </a:prstGeom>
          <a:solidFill>
            <a:srgbClr val="203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40000"/>
            <a:ext cx="80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4. 核心数据结构与函数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1100000"/>
            <a:ext cx="4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</a:defRPr>
            </a:pPr>
            <a:r>
              <a:t>数据结构定义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0000" y="1600000"/>
            <a:ext cx="40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03A43"/>
                </a:solidFill>
              </a:defRPr>
            </a:pPr>
            <a:r>
              <a:t>struct Scene {</a:t>
            </a:r>
          </a:p>
          <a:p>
            <a:pPr>
              <a:spcAft>
                <a:spcPts val="800"/>
              </a:spcAft>
              <a:defRPr sz="1200">
                <a:solidFill>
                  <a:srgbClr val="203A43"/>
                </a:solidFill>
              </a:defRPr>
            </a:pPr>
            <a:r>
              <a:t>    int id;</a:t>
            </a:r>
          </a:p>
          <a:p>
            <a:pPr>
              <a:spcAft>
                <a:spcPts val="800"/>
              </a:spcAft>
              <a:defRPr sz="1200">
                <a:solidFill>
                  <a:srgbClr val="203A43"/>
                </a:solidFill>
              </a:defRPr>
            </a:pPr>
            <a:r>
              <a:t>    string name;</a:t>
            </a:r>
          </a:p>
          <a:p>
            <a:pPr>
              <a:spcAft>
                <a:spcPts val="800"/>
              </a:spcAft>
              <a:defRPr sz="1200">
                <a:solidFill>
                  <a:srgbClr val="203A43"/>
                </a:solidFill>
              </a:defRPr>
            </a:pPr>
            <a:r>
              <a:t>    string description;</a:t>
            </a:r>
          </a:p>
          <a:p>
            <a:pPr>
              <a:spcAft>
                <a:spcPts val="800"/>
              </a:spcAft>
              <a:defRPr sz="1200">
                <a:solidFill>
                  <a:srgbClr val="203A43"/>
                </a:solidFill>
              </a:defRPr>
            </a:pPr>
            <a:r>
              <a:t>};</a:t>
            </a:r>
          </a:p>
          <a:p>
            <a:pPr>
              <a:spcAft>
                <a:spcPts val="800"/>
              </a:spcAft>
              <a:defRPr sz="1200">
                <a:solidFill>
                  <a:srgbClr val="203A43"/>
                </a:solidFill>
              </a:defRPr>
            </a:pPr>
          </a:p>
          <a:p>
            <a:pPr>
              <a:spcAft>
                <a:spcPts val="800"/>
              </a:spcAft>
              <a:defRPr sz="1200">
                <a:solidFill>
                  <a:srgbClr val="203A43"/>
                </a:solidFill>
              </a:defRPr>
            </a:pPr>
            <a:r>
              <a:t>struct Graph {</a:t>
            </a:r>
          </a:p>
          <a:p>
            <a:pPr>
              <a:spcAft>
                <a:spcPts val="800"/>
              </a:spcAft>
              <a:defRPr sz="1200">
                <a:solidFill>
                  <a:srgbClr val="203A43"/>
                </a:solidFill>
              </a:defRPr>
            </a:pPr>
            <a:r>
              <a:t>    vector&lt;Scene&gt; scenes;</a:t>
            </a:r>
          </a:p>
          <a:p>
            <a:pPr>
              <a:spcAft>
                <a:spcPts val="800"/>
              </a:spcAft>
              <a:defRPr sz="1200">
                <a:solidFill>
                  <a:srgbClr val="203A43"/>
                </a:solidFill>
              </a:defRPr>
            </a:pPr>
            <a:r>
              <a:t>    vector&lt;vector&lt;int&gt;&gt; adj;  //邻接矩阵</a:t>
            </a:r>
          </a:p>
          <a:p>
            <a:pPr>
              <a:spcAft>
                <a:spcPts val="800"/>
              </a:spcAft>
              <a:defRPr sz="1200">
                <a:solidFill>
                  <a:srgbClr val="203A43"/>
                </a:solidFill>
              </a:defRPr>
            </a:pPr>
            <a:r>
              <a:t>    vector&lt;vector&lt;int&gt;&gt; roadType;
vector&lt;vector&lt;int&gt;&gt; trafficLights;</a:t>
            </a:r>
          </a:p>
          <a:p>
            <a:pPr>
              <a:spcAft>
                <a:spcPts val="800"/>
              </a:spcAft>
              <a:defRPr sz="1200">
                <a:solidFill>
                  <a:srgbClr val="203A43"/>
                </a:solidFill>
              </a:defRPr>
            </a:pPr>
            <a:r>
              <a:t>};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000" y="1100000"/>
            <a:ext cx="4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</a:defRPr>
            </a:pPr>
            <a:r>
              <a:t>核心函数清单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000" y="1600000"/>
            <a:ext cx="40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3A43"/>
                </a:solidFill>
              </a:defRPr>
            </a:pPr>
            <a:r>
              <a:t>• loadScenes() — 加载景点数据</a:t>
            </a:r>
          </a:p>
          <a:p>
            <a:pPr>
              <a:spcAft>
                <a:spcPts val="800"/>
              </a:spcAft>
              <a:defRPr sz="1400">
                <a:solidFill>
                  <a:srgbClr val="203A43"/>
                </a:solidFill>
              </a:defRPr>
            </a:pPr>
            <a:r>
              <a:t>• loadRoads() — 按类型加载道路</a:t>
            </a:r>
          </a:p>
          <a:p>
            <a:pPr>
              <a:spcAft>
                <a:spcPts val="800"/>
              </a:spcAft>
              <a:defRPr sz="1400">
                <a:solidFill>
                  <a:srgbClr val="203A43"/>
                </a:solidFill>
              </a:defRPr>
            </a:pPr>
            <a:r>
              <a:t>• getshortestpath() — Dijkstra</a:t>
            </a:r>
          </a:p>
          <a:p>
            <a:pPr>
              <a:spcAft>
                <a:spcPts val="800"/>
              </a:spcAft>
              <a:defRPr sz="1400">
                <a:solidFill>
                  <a:srgbClr val="203A43"/>
                </a:solidFill>
              </a:defRPr>
            </a:pPr>
            <a:r>
              <a:t>• findAllPaths() — DFS 全路径</a:t>
            </a:r>
          </a:p>
          <a:p>
            <a:pPr>
              <a:spcAft>
                <a:spcPts val="800"/>
              </a:spcAft>
              <a:defRPr sz="1400">
                <a:solidFill>
                  <a:srgbClr val="203A43"/>
                </a:solidFill>
              </a:defRPr>
            </a:pPr>
            <a:r>
              <a:t>• whatyouwant() — 必经节点路径</a:t>
            </a:r>
          </a:p>
          <a:p>
            <a:pPr>
              <a:spcAft>
                <a:spcPts val="800"/>
              </a:spcAft>
              <a:defRPr sz="1400">
                <a:solidFill>
                  <a:srgbClr val="203A43"/>
                </a:solidFill>
              </a:defRPr>
            </a:pPr>
            <a:r>
              <a:t>• addScene/deleteScene — CRUD</a:t>
            </a:r>
          </a:p>
          <a:p>
            <a:pPr>
              <a:spcAft>
                <a:spcPts val="800"/>
              </a:spcAft>
              <a:defRPr sz="1400">
                <a:solidFill>
                  <a:srgbClr val="203A43"/>
                </a:solidFill>
              </a:defRPr>
            </a:pPr>
            <a:r>
              <a:t>• saveAllRoads() — 双图合并保存</a:t>
            </a:r>
          </a:p>
          <a:p>
            <a:pPr>
              <a:spcAft>
                <a:spcPts val="800"/>
              </a:spcAft>
              <a:defRPr sz="1400">
                <a:solidFill>
                  <a:srgbClr val="203A4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03A43"/>
                </a:solidFill>
              </a:defRPr>
            </a:pPr>
            <a:r>
              <a:t>共约 600+ 行 C++ 代码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0000"/>
          </a:xfrm>
          <a:prstGeom prst="rect">
            <a:avLst/>
          </a:prstGeom>
          <a:solidFill>
            <a:srgbClr val="203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40000"/>
            <a:ext cx="80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5. 程序流程图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0000" y="1300000"/>
            <a:ext cx="7800000" cy="350000"/>
          </a:xfrm>
          <a:prstGeom prst="roundRect">
            <a:avLst/>
          </a:prstGeom>
          <a:solidFill>
            <a:srgbClr val="203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0" rtlCol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  程序启动  →  loadScenes / loadRoads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0000" y="1730000"/>
            <a:ext cx="7800000" cy="350000"/>
          </a:xfrm>
          <a:prstGeom prst="roundRect">
            <a:avLst/>
          </a:prstGeom>
          <a:solidFill>
            <a:srgbClr val="203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0" rtlCol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  显示主菜单  →  等待用户输入编号 (0-12)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0000" y="2160000"/>
            <a:ext cx="7800000" cy="35000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0" rtlCol="0" anchor="ctr"/>
          <a:lstStyle/>
          <a:p>
            <a:pPr algn="ctr">
              <a:defRPr sz="1300">
                <a:solidFill>
                  <a:srgbClr val="203A43"/>
                </a:solidFill>
              </a:defRPr>
            </a:pPr>
            <a:r>
              <a:t>  [0] 打开地图  →  → ui/selection.html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00" y="2590000"/>
            <a:ext cx="7800000" cy="35000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0" rtlCol="0" anchor="ctr"/>
          <a:lstStyle/>
          <a:p>
            <a:pPr algn="ctr">
              <a:defRPr sz="1300">
                <a:solidFill>
                  <a:srgbClr val="203A43"/>
                </a:solidFill>
              </a:defRPr>
            </a:pPr>
            <a:r>
              <a:t>  [1] 最短路径  →  → Dijkstra → 控制台输出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0000" y="3020000"/>
            <a:ext cx="7800000" cy="35000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0" rtlCol="0" anchor="ctr"/>
          <a:lstStyle/>
          <a:p>
            <a:pPr algn="ctr">
              <a:defRPr sz="1300">
                <a:solidFill>
                  <a:srgbClr val="203A43"/>
                </a:solidFill>
              </a:defRPr>
            </a:pPr>
            <a:r>
              <a:t>  [2] 所有路径  →  → DFS 回溯 → 控制台输出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0000" y="3450000"/>
            <a:ext cx="7800000" cy="35000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0" rtlCol="0" anchor="ctr"/>
          <a:lstStyle/>
          <a:p>
            <a:pPr algn="ctr">
              <a:defRPr sz="1300">
                <a:solidFill>
                  <a:srgbClr val="203A43"/>
                </a:solidFill>
              </a:defRPr>
            </a:pPr>
            <a:r>
              <a:t>  [3] 必经路径  →  → DFS + 哈希表过滤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0000" y="3880000"/>
            <a:ext cx="7800000" cy="35000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0" rtlCol="0" anchor="ctr"/>
          <a:lstStyle/>
          <a:p>
            <a:pPr algn="ctr">
              <a:defRPr sz="1300">
                <a:solidFill>
                  <a:srgbClr val="203A43"/>
                </a:solidFill>
              </a:defRPr>
            </a:pPr>
            <a:r>
              <a:t>  [4-11] CRUD  →  → 增删改查 + 文件保存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000" y="4310000"/>
            <a:ext cx="7800000" cy="35000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0" rtlCol="0" anchor="ctr"/>
          <a:lstStyle/>
          <a:p>
            <a:pPr algn="ctr">
              <a:defRPr sz="1300">
                <a:solidFill>
                  <a:srgbClr val="203A43"/>
                </a:solidFill>
              </a:defRPr>
            </a:pPr>
            <a:r>
              <a:t>  [12] 退出  →  return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000" y="6100000"/>
            <a:ext cx="780000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主程序框架流程图  |  控制台菜单循环 + HTML 地图展示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0000"/>
          </a:xfrm>
          <a:prstGeom prst="rect">
            <a:avLst/>
          </a:prstGeom>
          <a:solidFill>
            <a:srgbClr val="203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40000"/>
            <a:ext cx="80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6. 调试分析与实验结果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1100000"/>
            <a:ext cx="4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</a:defRPr>
            </a:pPr>
            <a:r>
              <a:t>测试数据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0000" y="1550000"/>
            <a:ext cx="40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3A43"/>
                </a:solidFill>
              </a:defRPr>
            </a:pPr>
            <a:r>
              <a:t>入 1-8 (第一食堂→南门) 步行0:</a:t>
            </a:r>
          </a:p>
          <a:p>
            <a:pPr>
              <a:spcAft>
                <a:spcPts val="800"/>
              </a:spcAft>
              <a:defRPr sz="1400">
                <a:solidFill>
                  <a:srgbClr val="203A43"/>
                </a:solidFill>
              </a:defRPr>
            </a:pPr>
            <a:r>
              <a:t>  距离 10, 路径: 食堂→东门→南门</a:t>
            </a:r>
          </a:p>
          <a:p>
            <a:pPr>
              <a:spcAft>
                <a:spcPts val="800"/>
              </a:spcAft>
              <a:defRPr sz="1400">
                <a:solidFill>
                  <a:srgbClr val="203A4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03A43"/>
                </a:solidFill>
              </a:defRPr>
            </a:pPr>
            <a:r>
              <a:t>入 1-2 (食堂→行政楼) 步行→距离3:</a:t>
            </a:r>
          </a:p>
          <a:p>
            <a:pPr>
              <a:spcAft>
                <a:spcPts val="800"/>
              </a:spcAft>
              <a:defRPr sz="1400">
                <a:solidFill>
                  <a:srgbClr val="203A43"/>
                </a:solidFill>
              </a:defRPr>
            </a:pPr>
            <a:r>
              <a:t>  车行→距离1 (双图正确分离)</a:t>
            </a:r>
          </a:p>
          <a:p>
            <a:pPr>
              <a:spcAft>
                <a:spcPts val="800"/>
              </a:spcAft>
              <a:defRPr sz="1400">
                <a:solidFill>
                  <a:srgbClr val="203A4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03A43"/>
                </a:solidFill>
              </a:defRPr>
            </a:pPr>
            <a:r>
              <a:t>所有路径: 食堂→行政楼共5条路径</a:t>
            </a:r>
          </a:p>
          <a:p>
            <a:pPr>
              <a:spcAft>
                <a:spcPts val="800"/>
              </a:spcAft>
              <a:defRPr sz="1400">
                <a:solidFill>
                  <a:srgbClr val="203A43"/>
                </a:solidFill>
              </a:defRPr>
            </a:pPr>
            <a:r>
              <a:t>必经节点: 可指定途径景点筛选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000" y="1100000"/>
            <a:ext cx="4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8A5A"/>
                </a:solidFill>
              </a:defRPr>
            </a:pPr>
            <a:r>
              <a:t>技术亮点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000" y="1550000"/>
            <a:ext cx="4000000" cy="3014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03A43"/>
                </a:solidFill>
              </a:defRPr>
            </a:pPr>
            <a:r>
              <a:t>✅ 双图架构 — 步行/车行互不干扰</a:t>
            </a:r>
          </a:p>
          <a:p>
            <a:pPr>
              <a:spcAft>
                <a:spcPts val="800"/>
              </a:spcAft>
              <a:defRPr sz="1300">
                <a:solidFill>
                  <a:srgbClr val="203A43"/>
                </a:solidFill>
              </a:defRPr>
            </a:pPr>
            <a:r>
              <a:t>✅ INT_MAX 溢出保护 — 防负权重bug</a:t>
            </a:r>
          </a:p>
          <a:p>
            <a:pPr>
              <a:spcAft>
                <a:spcPts val="800"/>
              </a:spcAft>
              <a:defRPr sz="1300">
                <a:solidFill>
                  <a:srgbClr val="203A43"/>
                </a:solidFill>
              </a:defRPr>
            </a:pPr>
            <a:r>
              <a:t>✅ DFS + 哈希表 — 必经节点路选</a:t>
            </a:r>
          </a:p>
          <a:p>
            <a:pPr>
              <a:spcAft>
                <a:spcPts val="800"/>
              </a:spcAft>
              <a:defRPr sz="1300">
                <a:solidFill>
                  <a:srgbClr val="203A43"/>
                </a:solidFill>
              </a:defRPr>
            </a:pPr>
            <a:r>
              <a:t>✅ HTML 多校区地图 — 2×2 网格选择</a:t>
            </a:r>
          </a:p>
          <a:p>
            <a:pPr>
              <a:spcAft>
                <a:spcPts val="800"/>
              </a:spcAft>
              <a:defRPr sz="1300">
                <a:solidFill>
                  <a:srgbClr val="203A43"/>
                </a:solidFill>
              </a:defRPr>
            </a:pPr>
            <a:r>
              <a:t>✅ 文件持久化 — 数据存储不丢失</a:t>
            </a:r>
          </a:p>
          <a:p>
            <a:pPr>
              <a:spcAft>
                <a:spcPts val="800"/>
              </a:spcAft>
              <a:defRPr sz="1300">
                <a:solidFill>
                  <a:srgbClr val="203A43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03A43"/>
                </a:solidFill>
              </a:defRPr>
            </a:pPr>
            <a:r>
              <a:t>开发难点与解决：</a:t>
            </a:r>
          </a:p>
          <a:p>
            <a:pPr>
              <a:spcAft>
                <a:spcPts val="800"/>
              </a:spcAft>
              <a:defRPr sz="1300">
                <a:solidFill>
                  <a:srgbClr val="203A43"/>
                </a:solidFill>
              </a:defRPr>
            </a:pPr>
            <a:r>
              <a:t>• 邻接矩阵只能存一个权重 → 双图设计</a:t>
            </a:r>
          </a:p>
          <a:p>
            <a:pPr>
              <a:spcAft>
                <a:spcPts val="800"/>
              </a:spcAft>
              <a:defRPr sz="1300">
                <a:solidFill>
                  <a:srgbClr val="203A43"/>
                </a:solidFill>
              </a:defRPr>
            </a:pPr>
            <a:r>
              <a:t>• 全路径数量指数级 → 校园路网为稀疏图</a:t>
            </a:r>
          </a:p>
          <a:p>
            <a:pPr>
              <a:spcAft>
                <a:spcPts val="800"/>
              </a:spcAft>
              <a:defRPr sz="1300">
                <a:solidFill>
                  <a:srgbClr val="203A43"/>
                </a:solidFill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0000"/>
          </a:xfrm>
          <a:prstGeom prst="rect">
            <a:avLst/>
          </a:prstGeom>
          <a:solidFill>
            <a:srgbClr val="203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40000"/>
            <a:ext cx="80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7. 运行效果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0000" y="1100000"/>
            <a:ext cx="1800000" cy="50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校区选择页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00000" y="1100000"/>
            <a:ext cx="6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03A43"/>
                </a:solidFill>
              </a:defRPr>
            </a:pPr>
            <a:r>
              <a:t>2×2 网格布局，每张卡片显示校区地图缩略图，hover 上浮放大，点击进入对应校区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0000" y="1850000"/>
            <a:ext cx="1800000" cy="50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Dijkstra 查询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00000" y="1850000"/>
            <a:ext cx="6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03A43"/>
                </a:solidFill>
              </a:defRPr>
            </a:pPr>
            <a:r>
              <a:t>控制台输入编号 → 自动计算最短路径 → 输出距离和途经景点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0000" y="2600000"/>
            <a:ext cx="1800000" cy="50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双模式切换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00000" y="2600000"/>
            <a:ext cx="6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03A43"/>
                </a:solidFill>
              </a:defRPr>
            </a:pPr>
            <a:r>
              <a:t>查询时指定 0(步行)或1(车行)，系统自动使用对应路网图进行计算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0000" y="3350000"/>
            <a:ext cx="1800000" cy="50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CRUD 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0000" y="3350000"/>
            <a:ext cx="6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03A43"/>
                </a:solidFill>
              </a:defRPr>
            </a:pPr>
            <a:r>
              <a:t>完整的景点/道路增删改查，数据保存至 scene.txt / road.txt 文件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0000" y="4100000"/>
            <a:ext cx="1800000" cy="50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所有路径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00000" y="4100000"/>
            <a:ext cx="6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03A43"/>
                </a:solidFill>
              </a:defRPr>
            </a:pPr>
            <a:r>
              <a:t>DFS 递归回溯，枚举两景点间全部可达路径并显示距离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0000" y="4850000"/>
            <a:ext cx="1800000" cy="50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必经节点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00000" y="4850000"/>
            <a:ext cx="6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03A43"/>
                </a:solidFill>
              </a:defRPr>
            </a:pPr>
            <a:r>
              <a:t>指定途经节点后，DFS + 哈希表计数筛选符合条件的路径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0000"/>
          </a:xfrm>
          <a:prstGeom prst="rect">
            <a:avLst/>
          </a:prstGeom>
          <a:solidFill>
            <a:srgbClr val="203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40000"/>
            <a:ext cx="80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8. 设计总结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1100000"/>
            <a:ext cx="8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3E8"/>
                </a:solidFill>
              </a:defRPr>
            </a:pPr>
            <a: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0000" y="1600000"/>
            <a:ext cx="8000000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3A43"/>
                </a:solidFill>
              </a:defRPr>
            </a:pPr>
            <a:r>
              <a:t>• 完整实现了带权无向图存储、Dijkstra 最短路径、DFS 全路径枚举等核心算法</a:t>
            </a:r>
          </a:p>
          <a:p>
            <a:pPr>
              <a:spcAft>
                <a:spcPts val="800"/>
              </a:spcAft>
              <a:defRPr sz="1500">
                <a:solidFill>
                  <a:srgbClr val="203A43"/>
                </a:solidFill>
              </a:defRPr>
            </a:pPr>
            <a:r>
              <a:t>★ 超出基本要求的创新点：①双图架构步行/车行分离 ②红绿灯统计 ③必经地点路径筛选 </a:t>
            </a:r>
            <a:r>
              <a:rPr lang="zh-CN"/>
              <a:t>（</a:t>
            </a:r>
            <a:r>
              <a:rPr lang="en-US" altLang="zh-CN"/>
              <a:t>dfs+</a:t>
            </a:r>
            <a:r>
              <a:rPr lang="zh-CN" altLang="en-US"/>
              <a:t>哈希表</a:t>
            </a:r>
            <a:r>
              <a:rPr lang="en-US" altLang="zh-CN"/>
              <a:t>)</a:t>
            </a:r>
            <a:r>
              <a:t>④多校区覆盖 ⑤INT_MAX溢出防护 ⑥</a:t>
            </a:r>
            <a:r>
              <a:rPr lang="en-US"/>
              <a:t>html</a:t>
            </a:r>
            <a:r>
              <a:rPr lang="zh-CN" altLang="en-US"/>
              <a:t>展示地图</a:t>
            </a:r>
            <a:endParaRPr lang="en-US"/>
          </a:p>
          <a:p>
            <a:pPr>
              <a:spcAft>
                <a:spcPts val="800"/>
              </a:spcAft>
              <a:defRPr sz="1500">
                <a:solidFill>
                  <a:srgbClr val="203A43"/>
                </a:solidFill>
              </a:defRPr>
            </a:pPr>
            <a:r>
              <a:t>• 双图架构成功解决步行/车行道路权重冲突问题</a:t>
            </a:r>
          </a:p>
          <a:p>
            <a:pPr>
              <a:spcAft>
                <a:spcPts val="800"/>
              </a:spcAft>
              <a:defRPr sz="1500">
                <a:solidFill>
                  <a:srgbClr val="203A43"/>
                </a:solidFill>
              </a:defRPr>
            </a:pPr>
            <a:r>
              <a:t>• 多校区 HTML 地图页面提供了良好的视觉展示效果</a:t>
            </a:r>
          </a:p>
          <a:p>
            <a:pPr>
              <a:spcAft>
                <a:spcPts val="800"/>
              </a:spcAft>
              <a:defRPr sz="1500">
                <a:solidFill>
                  <a:srgbClr val="203A43"/>
                </a:solidFill>
              </a:defRPr>
            </a:pPr>
            <a:r>
              <a:t>• 通过模块化设计实现了数据、算法、界面的三层解耦</a:t>
            </a:r>
          </a:p>
          <a:p>
            <a:pPr>
              <a:spcAft>
                <a:spcPts val="800"/>
              </a:spcAft>
              <a:defRPr sz="1500">
                <a:solidFill>
                  <a:srgbClr val="203A43"/>
                </a:solidFill>
              </a:defRPr>
            </a:pPr>
            <a:r>
              <a:t>• 代码约 600+ 行 C++，结构清晰、注释完整</a:t>
            </a:r>
          </a:p>
          <a:p>
            <a:pPr>
              <a:spcAft>
                <a:spcPts val="800"/>
              </a:spcAft>
              <a:defRPr sz="1500">
                <a:solidFill>
                  <a:srgbClr val="203A43"/>
                </a:solidFill>
              </a:defRPr>
            </a:pPr>
            <a:r>
              <a:t>• 文件化数据存储确保系统可复用、可扩展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" y="4051300"/>
            <a:ext cx="7999730" cy="444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000" b="1">
                <a:solidFill>
                  <a:srgbClr val="E87D1A"/>
                </a:solidFill>
              </a:defRPr>
            </a:pPr>
            <a:r>
              <a:t>改进设想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4450000"/>
            <a:ext cx="8000000" cy="1655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3A43"/>
                </a:solidFill>
              </a:defRPr>
            </a:pPr>
            <a:r>
              <a:t>• 在地图图片上绘制高亮路径（Canvas 叠加）</a:t>
            </a:r>
          </a:p>
          <a:p>
            <a:pPr>
              <a:spcAft>
                <a:spcPts val="800"/>
              </a:spcAft>
              <a:defRPr sz="1500">
                <a:solidFill>
                  <a:srgbClr val="203A43"/>
                </a:solidFill>
              </a:defRPr>
            </a:pPr>
            <a:r>
              <a:t>• 交互式点击选点（替代手动输入编号）</a:t>
            </a:r>
          </a:p>
          <a:p>
            <a:pPr>
              <a:spcAft>
                <a:spcPts val="800"/>
              </a:spcAft>
              <a:defRPr sz="1500">
                <a:solidFill>
                  <a:srgbClr val="203A43"/>
                </a:solidFill>
              </a:defRPr>
            </a:pPr>
            <a:r>
              <a:t>• </a:t>
            </a:r>
            <a:r>
              <a:rPr lang="zh-CN"/>
              <a:t>做一个</a:t>
            </a:r>
            <a:r>
              <a:rPr lang="en-US" altLang="zh-CN"/>
              <a:t>web</a:t>
            </a:r>
            <a:r>
              <a:rPr lang="zh-CN" altLang="en-US"/>
              <a:t>网页，打通</a:t>
            </a:r>
            <a:r>
              <a:rPr lang="en-US" altLang="zh-CN"/>
              <a:t>http</a:t>
            </a:r>
            <a:r>
              <a:rPr lang="zh-CN" altLang="en-US"/>
              <a:t>服务，拉到</a:t>
            </a:r>
            <a:r>
              <a:rPr lang="en-US" altLang="zh-CN"/>
              <a:t>vbs</a:t>
            </a:r>
            <a:r>
              <a:rPr lang="zh-CN" altLang="en-US"/>
              <a:t>上，让大家可以访问</a:t>
            </a:r>
            <a:endParaRPr lang="zh-CN" altLang="en-US"/>
          </a:p>
          <a:p>
            <a:pPr>
              <a:spcAft>
                <a:spcPts val="800"/>
              </a:spcAft>
              <a:defRPr sz="1500">
                <a:solidFill>
                  <a:srgbClr val="203A43"/>
                </a:solidFill>
              </a:defRPr>
            </a:pPr>
            <a:r>
              <a:t>• 支持实时交通拥堵模拟（动态权重）</a:t>
            </a:r>
          </a:p>
          <a:p>
            <a:pPr>
              <a:spcAft>
                <a:spcPts val="800"/>
              </a:spcAft>
              <a:defRPr sz="1500">
                <a:solidFill>
                  <a:srgbClr val="203A43"/>
                </a:solidFill>
              </a:defRPr>
            </a:pPr>
            <a:r>
              <a:rPr>
                <a:sym typeface="+mn-ea"/>
              </a:rPr>
              <a:t>• </a:t>
            </a:r>
            <a:r>
              <a:rPr lang="zh-CN">
                <a:sym typeface="+mn-ea"/>
              </a:rPr>
              <a:t>使用</a:t>
            </a:r>
            <a:r>
              <a:rPr lang="en-US" altLang="zh-CN">
                <a:sym typeface="+mn-ea"/>
              </a:rPr>
              <a:t>qt</a:t>
            </a:r>
            <a:r>
              <a:rPr lang="zh-CN" altLang="en-US">
                <a:sym typeface="+mn-ea"/>
              </a:rPr>
              <a:t>，做一个</a:t>
            </a:r>
            <a:r>
              <a:rPr lang="en-US" altLang="zh-CN">
                <a:sym typeface="+mn-ea"/>
              </a:rPr>
              <a:t>qt</a:t>
            </a:r>
            <a:r>
              <a:rPr lang="zh-CN" altLang="en-US">
                <a:sym typeface="+mn-ea"/>
              </a:rPr>
              <a:t>界面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2376</Words>
  <Application>WPS 演示</Application>
  <PresentationFormat>On-screen Show (4:3)</PresentationFormat>
  <Paragraphs>180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王宏宇</cp:lastModifiedBy>
  <cp:revision>7</cp:revision>
  <dcterms:created xsi:type="dcterms:W3CDTF">2013-01-27T09:14:00Z</dcterms:created>
  <dcterms:modified xsi:type="dcterms:W3CDTF">2026-06-14T07:04:57Z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08F6FD5FE49845D58B4C21492957E631_12</vt:lpwstr>
  </property>
</Properties>
</file>